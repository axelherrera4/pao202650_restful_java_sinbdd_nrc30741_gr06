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8" r:id="rId5"/>
    <p:sldId id="259" r:id="rId6"/>
    <p:sldId id="261" r:id="rId7"/>
    <p:sldId id="331" r:id="rId8"/>
    <p:sldId id="332" r:id="rId9"/>
    <p:sldId id="334" r:id="rId10"/>
    <p:sldId id="344" r:id="rId11"/>
    <p:sldId id="345" r:id="rId12"/>
    <p:sldId id="350" r:id="rId13"/>
    <p:sldId id="352" r:id="rId14"/>
    <p:sldId id="353" r:id="rId15"/>
    <p:sldId id="362" r:id="rId16"/>
    <p:sldId id="363" r:id="rId17"/>
    <p:sldId id="365" r:id="rId18"/>
    <p:sldId id="367" r:id="rId19"/>
    <p:sldId id="368" r:id="rId20"/>
    <p:sldId id="370" r:id="rId21"/>
    <p:sldId id="395" r:id="rId22"/>
    <p:sldId id="396" r:id="rId23"/>
    <p:sldId id="380" r:id="rId24"/>
    <p:sldId id="383" r:id="rId25"/>
    <p:sldId id="324" r:id="rId26"/>
    <p:sldId id="262" r:id="rId27"/>
    <p:sldId id="263" r:id="rId2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ael Villarruel" initials="MV" lastIdx="2" clrIdx="0">
    <p:extLst>
      <p:ext uri="{19B8F6BF-5375-455C-9EA6-DF929625EA0E}">
        <p15:presenceInfo xmlns:p15="http://schemas.microsoft.com/office/powerpoint/2012/main" userId="Michael Villarru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65155A-90CA-449A-BA2A-520C7AE88C95}" v="1" dt="2024-12-14T04:44:51.8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ESIS ISABEL CALAPAQUI PORTILLA" userId="5cf9098d-9cef-4576-a344-6111a9585f0f" providerId="ADAL" clId="{AB65155A-90CA-449A-BA2A-520C7AE88C95}"/>
    <pc:docChg chg="modSld">
      <pc:chgData name="GENESIS ISABEL CALAPAQUI PORTILLA" userId="5cf9098d-9cef-4576-a344-6111a9585f0f" providerId="ADAL" clId="{AB65155A-90CA-449A-BA2A-520C7AE88C95}" dt="2024-12-14T04:44:51.875" v="0"/>
      <pc:docMkLst>
        <pc:docMk/>
      </pc:docMkLst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749377129" sldId="259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749377129" sldId="259"/>
            <ac:spMk id="3" creationId="{E7FCC8BE-29CF-4C4C-BE9D-AC08DC5E481A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3141142147" sldId="261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3141142147" sldId="261"/>
            <ac:spMk id="3" creationId="{93B8F572-C439-414C-90FA-BE3C081E9B98}"/>
          </ac:spMkLst>
        </pc:spChg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3141142147" sldId="261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179576126" sldId="262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179576126" sldId="262"/>
            <ac:spMk id="5" creationId="{054452AF-173F-4A3B-AAAA-2E1E26784C6F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3514226432" sldId="263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3514226432" sldId="263"/>
            <ac:spMk id="3" creationId="{DB0FD96C-3240-4673-A01D-AB9F82CF6BCE}"/>
          </ac:spMkLst>
        </pc:spChg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3514226432" sldId="263"/>
            <ac:spMk id="5" creationId="{1C9745E7-07CB-4EAD-AB25-DF4CD32FFD3F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2891991657" sldId="324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2891991657" sldId="324"/>
            <ac:spMk id="3" creationId="{93B8F572-C439-414C-90FA-BE3C081E9B98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3663893953" sldId="331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3663893953" sldId="331"/>
            <ac:spMk id="3" creationId="{93B8F572-C439-414C-90FA-BE3C081E9B98}"/>
          </ac:spMkLst>
        </pc:spChg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3663893953" sldId="331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4261152526" sldId="332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4261152526" sldId="332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2070467638" sldId="334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2070467638" sldId="334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2326254396" sldId="344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2326254396" sldId="344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376911173" sldId="345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376911173" sldId="345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2478630053" sldId="346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2478630053" sldId="346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3310875422" sldId="347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3310875422" sldId="347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3802611624" sldId="350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3802611624" sldId="350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2048556783" sldId="352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2048556783" sldId="352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1022546901" sldId="353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1022546901" sldId="353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141034882" sldId="360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141034882" sldId="360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2563100257" sldId="362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2563100257" sldId="362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4057489758" sldId="363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4057489758" sldId="363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2202720890" sldId="364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2202720890" sldId="364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1493150460" sldId="365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1493150460" sldId="365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921519402" sldId="366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921519402" sldId="366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795099191" sldId="367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795099191" sldId="367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3037220131" sldId="368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3037220131" sldId="368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3022903355" sldId="370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3022903355" sldId="370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2320291172" sldId="371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2320291172" sldId="371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73835740" sldId="373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73835740" sldId="373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504871624" sldId="377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504871624" sldId="377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278960470" sldId="380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278960470" sldId="380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2247966254" sldId="381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2247966254" sldId="381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2756267404" sldId="383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2756267404" sldId="383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36210345" sldId="384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36210345" sldId="384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2944665658" sldId="385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2944665658" sldId="385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2655309640" sldId="386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2655309640" sldId="386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3144295167" sldId="387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3144295167" sldId="387"/>
            <ac:spMk id="5" creationId="{EFCE21EE-10DC-4503-9FD7-8D2960C780CB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2612767027" sldId="388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2612767027" sldId="388"/>
            <ac:spMk id="5" creationId="{E87FF251-35A9-08C8-037D-D819F99B907E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3300729877" sldId="389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3300729877" sldId="389"/>
            <ac:spMk id="5" creationId="{071BBB58-B65A-CAC9-EF07-E46D497BCD4D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3633925905" sldId="390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3633925905" sldId="390"/>
            <ac:spMk id="5" creationId="{B1FB6247-2E95-E558-7EDB-765DA14B18BF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2098781559" sldId="391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2098781559" sldId="391"/>
            <ac:spMk id="5" creationId="{EB838FD5-3672-4D5B-14AA-FA2EB8462FA1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2375579231" sldId="392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2375579231" sldId="392"/>
            <ac:spMk id="5" creationId="{17DF2EEC-B6F9-0C97-9C56-330864A8F1A2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2708771182" sldId="393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2708771182" sldId="393"/>
            <ac:spMk id="5" creationId="{62A61ED7-BD52-3849-3AEF-5ACE925E0F71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517168494" sldId="394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517168494" sldId="394"/>
            <ac:spMk id="5" creationId="{A10A9FB1-E2A5-878A-4BB5-1C7AFD079DE3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1073152836" sldId="395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1073152836" sldId="395"/>
            <ac:spMk id="5" creationId="{8FCD86FD-70D9-3F10-4A3E-5CE969D59740}"/>
          </ac:spMkLst>
        </pc:spChg>
      </pc:sldChg>
      <pc:sldChg chg="modSp">
        <pc:chgData name="GENESIS ISABEL CALAPAQUI PORTILLA" userId="5cf9098d-9cef-4576-a344-6111a9585f0f" providerId="ADAL" clId="{AB65155A-90CA-449A-BA2A-520C7AE88C95}" dt="2024-12-14T04:44:51.875" v="0"/>
        <pc:sldMkLst>
          <pc:docMk/>
          <pc:sldMk cId="2709511742" sldId="396"/>
        </pc:sldMkLst>
        <pc:spChg chg="mod">
          <ac:chgData name="GENESIS ISABEL CALAPAQUI PORTILLA" userId="5cf9098d-9cef-4576-a344-6111a9585f0f" providerId="ADAL" clId="{AB65155A-90CA-449A-BA2A-520C7AE88C95}" dt="2024-12-14T04:44:51.875" v="0"/>
          <ac:spMkLst>
            <pc:docMk/>
            <pc:sldMk cId="2709511742" sldId="396"/>
            <ac:spMk id="5" creationId="{6EC8660B-F2F6-C099-AFCB-CCBE8F703BF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60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04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156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88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27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500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83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541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50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192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802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951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56176-055A-4F41-9A1C-5A8ABC57A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</p:spPr>
        <p:txBody>
          <a:bodyPr>
            <a:normAutofit/>
          </a:bodyPr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MANUAL</a:t>
            </a:r>
            <a:br>
              <a:rPr lang="es-ES" dirty="0">
                <a:solidFill>
                  <a:schemeClr val="bg1"/>
                </a:solidFill>
              </a:rPr>
            </a:br>
            <a:r>
              <a:rPr lang="es-ES" dirty="0">
                <a:solidFill>
                  <a:schemeClr val="bg1"/>
                </a:solidFill>
              </a:rPr>
              <a:t>CONVERSIÓN DE UNIDADES </a:t>
            </a:r>
            <a:r>
              <a:rPr lang="es-EC" dirty="0">
                <a:solidFill>
                  <a:schemeClr val="lt1"/>
                </a:solidFill>
              </a:rPr>
              <a:t>RESTFULL</a:t>
            </a:r>
            <a:r>
              <a:rPr lang="es-ES" dirty="0">
                <a:solidFill>
                  <a:schemeClr val="bg1"/>
                </a:solidFill>
              </a:rPr>
              <a:t> EN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0C571E-A349-4667-927F-5916BE607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6" y="4572000"/>
            <a:ext cx="6557354" cy="1812758"/>
          </a:xfrm>
        </p:spPr>
        <p:txBody>
          <a:bodyPr>
            <a:normAutofit/>
          </a:bodyPr>
          <a:lstStyle/>
          <a:p>
            <a:r>
              <a:rPr lang="es-EC" b="1" dirty="0">
                <a:solidFill>
                  <a:schemeClr val="bg1"/>
                </a:solidFill>
              </a:rPr>
              <a:t>Integrantes:</a:t>
            </a:r>
            <a:r>
              <a:rPr lang="es-EC" dirty="0">
                <a:solidFill>
                  <a:schemeClr val="bg1"/>
                </a:solidFill>
              </a:rPr>
              <a:t> 	</a:t>
            </a:r>
          </a:p>
          <a:p>
            <a:r>
              <a:rPr lang="es-EC" dirty="0">
                <a:solidFill>
                  <a:schemeClr val="bg1"/>
                </a:solidFill>
              </a:rPr>
              <a:t>AXEL HERRERA					</a:t>
            </a:r>
          </a:p>
          <a:p>
            <a:r>
              <a:rPr lang="es-EC" dirty="0">
                <a:solidFill>
                  <a:schemeClr val="bg1"/>
                </a:solidFill>
              </a:rPr>
              <a:t>CRISTIAN ROBALINO</a:t>
            </a:r>
          </a:p>
          <a:p>
            <a:r>
              <a:rPr lang="es-EC" dirty="0">
                <a:solidFill>
                  <a:schemeClr val="bg1"/>
                </a:solidFill>
              </a:rPr>
              <a:t>RAÚL SILVA</a:t>
            </a:r>
          </a:p>
        </p:txBody>
      </p:sp>
      <p:pic>
        <p:nvPicPr>
          <p:cNvPr id="1026" name="Picture 2" descr="Resultado de imagen para espe">
            <a:extLst>
              <a:ext uri="{FF2B5EF4-FFF2-40B4-BE49-F238E27FC236}">
                <a16:creationId xmlns:a16="http://schemas.microsoft.com/office/drawing/2014/main" id="{F414D571-4BC8-480A-8CAB-8B16FE515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97" y="716302"/>
            <a:ext cx="11647502" cy="219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1967A448-01D9-4956-A50F-F9BFFBEC42EB}"/>
              </a:ext>
            </a:extLst>
          </p:cNvPr>
          <p:cNvSpPr txBox="1">
            <a:spLocks/>
          </p:cNvSpPr>
          <p:nvPr/>
        </p:nvSpPr>
        <p:spPr>
          <a:xfrm>
            <a:off x="9037063" y="5301801"/>
            <a:ext cx="4261531" cy="1235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FECHA:  12/5/2026</a:t>
            </a:r>
            <a:endParaRPr lang="es-EC" dirty="0">
              <a:solidFill>
                <a:prstClr val="white"/>
              </a:solidFill>
              <a:latin typeface="Gill Sans MT" panose="020B0502020104020203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Ing</a:t>
            </a:r>
            <a:r>
              <a:rPr kumimoji="0" lang="es-EC" sz="16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: </a:t>
            </a:r>
            <a:r>
              <a:rPr kumimoji="0" lang="es-EC" sz="16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Campaña mauricio</a:t>
            </a:r>
            <a:endParaRPr kumimoji="0" lang="es-EC" sz="16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B78AAB0-61A1-4632-A25D-4FC9433D59B1}"/>
              </a:ext>
            </a:extLst>
          </p:cNvPr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06866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FCC8BE-29CF-4C4C-BE9D-AC08DC5E4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8" y="701336"/>
            <a:ext cx="3389726" cy="5424255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r>
              <a:rPr lang="es-ES" dirty="0">
                <a:solidFill>
                  <a:schemeClr val="bg1"/>
                </a:solidFill>
              </a:rPr>
              <a:t>DESARROLLO</a:t>
            </a:r>
          </a:p>
          <a:p>
            <a:pPr lvl="1"/>
            <a:r>
              <a:rPr lang="es-ES" dirty="0">
                <a:solidFill>
                  <a:schemeClr val="bg1"/>
                </a:solidFill>
              </a:rPr>
              <a:t>OBJETIVO</a:t>
            </a:r>
          </a:p>
          <a:p>
            <a:pPr marL="763200" lvl="1">
              <a:defRPr/>
            </a:pPr>
            <a:r>
              <a:rPr lang="es-ES" sz="1800" dirty="0">
                <a:solidFill>
                  <a:schemeClr val="bg1"/>
                </a:solidFill>
              </a:rPr>
              <a:t>CREACIÓN DEL SERVIDOR REST</a:t>
            </a:r>
          </a:p>
          <a:p>
            <a:pPr marL="763200" lvl="1">
              <a:defRPr/>
            </a:pPr>
            <a:r>
              <a:rPr lang="es-ES" sz="1800" dirty="0">
                <a:solidFill>
                  <a:schemeClr val="bg1"/>
                </a:solidFill>
              </a:rPr>
              <a:t>CREACIÓN DEL PROYECTO – CLIENTE CONSOLA</a:t>
            </a:r>
          </a:p>
          <a:p>
            <a:pPr marL="763200" lvl="1">
              <a:defRPr/>
            </a:pPr>
            <a:r>
              <a:rPr lang="es-ES" sz="1800" dirty="0">
                <a:solidFill>
                  <a:schemeClr val="bg1"/>
                </a:solidFill>
              </a:rPr>
              <a:t>CREACIÓN DEL PROYECTO – CLIENTE ESCRITORIO</a:t>
            </a:r>
          </a:p>
          <a:p>
            <a:pPr marL="763200" lvl="1">
              <a:defRPr/>
            </a:pPr>
            <a:r>
              <a:rPr lang="es-ES" sz="1800" dirty="0">
                <a:solidFill>
                  <a:schemeClr val="bg1"/>
                </a:solidFill>
              </a:rPr>
              <a:t>CREACIÓN DEL PROYECTO – CLIENTE WEB</a:t>
            </a:r>
          </a:p>
          <a:p>
            <a:pPr marL="763200" lvl="1">
              <a:defRPr/>
            </a:pPr>
            <a:r>
              <a:rPr lang="es-ES" sz="1800" dirty="0">
                <a:solidFill>
                  <a:schemeClr val="bg1"/>
                </a:solidFill>
              </a:rPr>
              <a:t>CREACIÓN DEL PROYECTO – CLIENTE MOVIL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 dirty="0">
                <a:solidFill>
                  <a:schemeClr val="bg1"/>
                </a:solidFill>
              </a:rPr>
              <a:t>CONCLUSIONES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 dirty="0">
                <a:solidFill>
                  <a:schemeClr val="bg1"/>
                </a:solidFill>
              </a:rPr>
              <a:t>RECOMENDACIONES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 dirty="0">
                <a:solidFill>
                  <a:schemeClr val="bg1"/>
                </a:solidFill>
              </a:rPr>
              <a:t>BIBLIOGRAFÍA</a:t>
            </a:r>
          </a:p>
        </p:txBody>
      </p:sp>
      <p:pic>
        <p:nvPicPr>
          <p:cNvPr id="6" name="Picture 2" descr="Resultado de imagen para AGENDA PNG">
            <a:extLst>
              <a:ext uri="{FF2B5EF4-FFF2-40B4-BE49-F238E27FC236}">
                <a16:creationId xmlns:a16="http://schemas.microsoft.com/office/drawing/2014/main" id="{BEAB8E00-371D-4C0F-B6B7-9BEE622AF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91522" y="1935576"/>
            <a:ext cx="6489819" cy="3007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A76E918-E1AF-47F5-B0A9-06C8BD2DAC04}"/>
              </a:ext>
            </a:extLst>
          </p:cNvPr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937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/>
          <a:lstStyle/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2.1	OBJETIVO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Desarrollar e implementar un Web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Service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utilizando 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REST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mediante JAVA para realizar conversión de unidades sin base de datos.</a:t>
            </a:r>
          </a:p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práctica busca: 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Implementar un servicio web que exponga métodos para convertir unidades de longitud.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Utilizar la tecnología Java para crear, desplegar y consumir servicios web.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314114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>
            <a:normAutofit fontScale="92500" lnSpcReduction="2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2.2	Creación del Servidor REST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El primer paso del proyecto es crear el servidor de la aplicación, recordando que este debe ser necesariamente web, además de que debe ser creado y guardado en la carpeta </a:t>
            </a:r>
            <a:r>
              <a:rPr lang="es-E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WS_ConUni_RESTFULL_JAVA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crea entonces un proyecto seleccionando la opción File &gt; New Project.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A390F14-68B2-4038-A299-B31891B61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23" y="3505343"/>
            <a:ext cx="4182035" cy="289208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804584F-D720-43EC-901A-3DC237FC0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471" y="3505343"/>
            <a:ext cx="4182035" cy="289164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663893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9451" y="2135570"/>
            <a:ext cx="8589441" cy="609601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Luego ajustar las configuraciones del servidor.</a:t>
            </a:r>
          </a:p>
          <a:p>
            <a:pPr marL="936900" lvl="2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9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 este caso se va a utilizar </a:t>
            </a:r>
            <a:r>
              <a:rPr lang="es-ES" sz="1900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Jakarta</a:t>
            </a:r>
            <a:r>
              <a:rPr lang="es-ES" sz="19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EE 11 como servidor</a:t>
            </a:r>
            <a:endParaRPr lang="es-ES" sz="19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AA5FAE9-0978-4C16-9123-4F69BAFB0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782" y="3232020"/>
            <a:ext cx="6811326" cy="238158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261152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948226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Se verifica que todo salió bien cuando en el IDE se muestra la siguiente estructura de archivos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F09D86D-0852-473A-A19D-A314E7497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511" y="3429000"/>
            <a:ext cx="3570905" cy="182512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70467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48226"/>
            <a:ext cx="8589441" cy="1600466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Como siguiente paso, se crean los paquetes necesarios para la aplicación basándose en MVC, los cuales son modelo, vista, controlador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pruebas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la creación de un paquete se debe realizar lo siguiente, después todos los paquetes que se quieran crear siguen la misma lógica, iniciando por la selección de la carpeta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Source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Packages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presionando clic derecho para luego escoger la opción New &gt; Java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Package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ECD6FE4-E3CB-4309-B8C6-63AECC6B5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751" y="3726630"/>
            <a:ext cx="3372321" cy="242921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26254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787292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 siguiente paso es ingresar a la clase de Conversor y codificar los métodos que se necesita.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C9B352A-B7AD-414B-A703-453E783D1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33" y="3071393"/>
            <a:ext cx="7741024" cy="339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11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2487"/>
            <a:ext cx="8589441" cy="771250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	Para verificar su funcionamiento, se procede a ejecutar el proyecto y se realiz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las pruebas.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B6C5677-D1C4-87AB-EA43-D9B690D85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683" y="3429000"/>
            <a:ext cx="6618695" cy="236369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802611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 fontScale="77500" lnSpcReduction="2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2.5	CREACIÓN DEL PROYECTO – CLIENTE CONSOLA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creación del proyecto cliente de consola sigue un proceso estructurado. Primero, se crea un nuevo proyecto Java con Maven, seleccionando la opción "Java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". Luego, se implementa un cliente de servicio web asegurando que el proyecto del servidor esté previamente desplegado.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4B695C9-888E-1BBC-C609-EC752C8F0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64" y="2973517"/>
            <a:ext cx="4921256" cy="336467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13EF096-9115-B4AA-E89C-4F4490623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166" y="3230310"/>
            <a:ext cx="3547125" cy="241706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48556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405" y="2064793"/>
            <a:ext cx="8589441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realiza la codificación del cliente consola como se observa a continuación: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4714F4C8-6694-9531-A8B1-60AB419B21CD}"/>
              </a:ext>
            </a:extLst>
          </p:cNvPr>
          <p:cNvSpPr txBox="1">
            <a:spLocks/>
          </p:cNvSpPr>
          <p:nvPr/>
        </p:nvSpPr>
        <p:spPr>
          <a:xfrm>
            <a:off x="566406" y="1623021"/>
            <a:ext cx="8589441" cy="8835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dirty="0"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21F5370-7D6E-4BC4-9617-7EC29AADE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388" y="3094977"/>
            <a:ext cx="6904302" cy="334616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22546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18112"/>
            <a:ext cx="2808303" cy="2877583"/>
          </a:xfrm>
        </p:spPr>
        <p:txBody>
          <a:bodyPr>
            <a:normAutofit fontScale="70000" lnSpcReduction="2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 ejecutar el programa, se mostrará primero un formulario para ingresar el nombre de usuario y la contraseña. Luego, si el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login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es exitoso, se presentará un menú con opciones para convertir entre diferentes unidades de medida, como pulgadas a centímetros, metros a yardas, entre otras. El usuario podrá ingresar los valores correspondientes y obtener el resultado de la conversión, o salir del programa según su elección.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213E3EB-1976-4DD1-BAD5-057F0D1DF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5599" y="2022542"/>
            <a:ext cx="3400801" cy="452887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63100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Realizado el servidor se avanza a la aplicación cliente, para ello se crea un nuevo proyecto de tipo Java </a:t>
            </a:r>
            <a:r>
              <a:rPr lang="es-E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para el cliente de escritorio.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0ACA14A-5A6A-E4BC-F8F2-04533CCC4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830" y="3120268"/>
            <a:ext cx="4828373" cy="333755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574897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95418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Una vez creado el proyecto para el cliente de escritorio se realiza la codificación como se observa a continuación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BD0C5C4-4E84-43AE-BB8D-D9A73B95B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2840795"/>
            <a:ext cx="7983071" cy="383070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93150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	</a:t>
            </a:r>
            <a:r>
              <a:rPr lang="es-ES" sz="20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Pesta</a:t>
            </a:r>
            <a:r>
              <a:rPr lang="es-EC" sz="2000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ña</a:t>
            </a:r>
            <a:r>
              <a:rPr lang="es-EC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Principal de Inicio de Sesión Aplicación Escritorio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7D9B980-6824-4DF5-806B-4C3FA51DC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6506" y="2816836"/>
            <a:ext cx="4420518" cy="260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991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18" y="3254006"/>
            <a:ext cx="2394667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Pestaña de Conversión de Unidades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1D56691-126E-434E-B042-898E1FE72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205" y="2418112"/>
            <a:ext cx="5554111" cy="340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20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715956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Creación del proyecto web el cual permitirá un funcionamiento multiplataforma, desarrollado en </a:t>
            </a:r>
            <a:r>
              <a:rPr lang="es-ES" sz="20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rect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3F46C12-764E-47E0-AD83-1094D47EF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143" y="2951104"/>
            <a:ext cx="3000794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903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865D3-D5E9-50B2-36AF-4A5697B5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4C282-220E-4E34-DA79-193750B6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FCD86FD-70D9-3F10-4A3E-5CE969D59740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C00FA37-7A64-4DC1-8EA1-236869E93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528" y="2715970"/>
            <a:ext cx="5873266" cy="296731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D894D0DC-C640-4A36-9566-7AC21FE49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715956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Login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152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198CC-A366-11A0-0952-6082E7C7C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095C4-A12F-9BFD-FD2D-3462A1BDF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EC8660B-F2F6-C099-AFCB-CCBE8F703BFE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7A5005A4-1B4E-3C8A-02D0-43FE762ED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41167"/>
            <a:ext cx="5504256" cy="92392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Vista conversión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8C1F759-AC4E-4F71-AB25-30522AFD8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596" y="3027205"/>
            <a:ext cx="6266533" cy="312863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09511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272" y="2201411"/>
            <a:ext cx="8451972" cy="433401"/>
          </a:xfrm>
        </p:spPr>
        <p:txBody>
          <a:bodyPr>
            <a:noAutofit/>
          </a:bodyPr>
          <a:lstStyle/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Creación proyecto cliente móvil. 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crear el cliente móvil se utilizó </a:t>
            </a:r>
            <a:r>
              <a:rPr lang="es-MX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React</a:t>
            </a:r>
            <a:r>
              <a:rPr lang="es-MX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Native inicializando el proyecto de la siguiente forma:</a:t>
            </a:r>
            <a:endParaRPr lang="es-ES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C1CF4FD-90D8-4D8D-ACDC-A0122BE2B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558" y="2985247"/>
            <a:ext cx="4177562" cy="3434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0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</a:t>
            </a:r>
            <a:r>
              <a:rPr lang="es-ES" sz="20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Ventanas o pantallas en ejecución aplicativo móvil.</a:t>
            </a:r>
            <a:endParaRPr lang="es-ES" sz="20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50456EB-210D-488B-ABC3-E7BE73F42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271" y="2925012"/>
            <a:ext cx="1856971" cy="367426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08D5E86-4F67-48E5-9198-3D004B29C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223" y="2925012"/>
            <a:ext cx="1771520" cy="367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674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REST (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Representational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State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Transfer) es un estilo de arquitectura que utiliza protocolos web estándar, como HTTP, para facilitar la comunicación entre sistemas. Es más liviano y flexible que REST, lo que lo hace ideal para servicios que requieren escalabilidad y facilidad de integración.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Java ofrece una variedad de herramientas y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frameworks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para trabajar con servicios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RESTful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como Spring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Boot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JAX-RS (Java API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RESTful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Web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Services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que simplifican la creación, exposición y consumo de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APIs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REST.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2891991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BC33A-CD42-4FC7-A6A8-7EDA27FD2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0960AD-F226-4240-9557-9B1A56633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6" y="1857178"/>
            <a:ext cx="8500664" cy="2429799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Utilizar las capacidades integradas de Apache NetBeans para desarrollar y consumir servicios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RESTful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con JAX-RS. NetBeans proporciona asistentes y plantillas que facilitan la generación de servicios y clientes </a:t>
            </a:r>
            <a:r>
              <a:rPr lang="es-MX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REST</a:t>
            </a: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MX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Desplegar 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los servicios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RESTful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 servidores de aplicaciones como Apache Tomcat o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GlassFish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que son compatibles y están bien integrados con NetBeans para facilitar el desarrollo y la administración de </a:t>
            </a:r>
            <a:r>
              <a:rPr lang="es-MX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APIs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REST.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4452AF-173F-4A3B-AAAA-2E1E26784C6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179576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90989-CA87-4621-A0C3-233A33CC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Bibliografía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0FD96C-3240-4673-A01D-AB9F82CF6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8571686" cy="3678303"/>
          </a:xfrm>
        </p:spPr>
        <p:txBody>
          <a:bodyPr/>
          <a:lstStyle/>
          <a:p>
            <a:pPr marL="243840" marR="0" indent="-24384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243840" algn="l"/>
              </a:tabLst>
            </a:pPr>
            <a:r>
              <a:rPr lang="es-EC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	«Desarrollo y servicios Web.,» 26 SEP 2019. [En línea]. </a:t>
            </a:r>
            <a:r>
              <a:rPr lang="es-EC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Available</a:t>
            </a:r>
            <a:r>
              <a:rPr lang="es-EC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http://www.eumed.net/tesis-doctorales/2007/cavl/Desarrollo%20y%20servicios%20Web.htm. .</a:t>
            </a:r>
            <a:endParaRPr lang="en-U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s-EC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	M. </a:t>
            </a:r>
            <a:r>
              <a:rPr lang="es-EC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Arl</a:t>
            </a:r>
            <a:r>
              <a:rPr lang="es-EC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Rodríguez, “SOA vs. REST y REST”, Adictos al trabajo, 2014. . </a:t>
            </a:r>
            <a:endParaRPr lang="en-U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C9745E7-07CB-4EAD-AB25-DF4CD32FFD3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REST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 dirty="0">
                <a:solidFill>
                  <a:schemeClr val="bg1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351422643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1f31ffb-9912-4459-99c8-b26e82094b5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DB39E34F5A9B445B025C05B2A05D030" ma:contentTypeVersion="15" ma:contentTypeDescription="Crear nuevo documento." ma:contentTypeScope="" ma:versionID="df751a29506bd4c0d4e4dfb35aba838f">
  <xsd:schema xmlns:xsd="http://www.w3.org/2001/XMLSchema" xmlns:xs="http://www.w3.org/2001/XMLSchema" xmlns:p="http://schemas.microsoft.com/office/2006/metadata/properties" xmlns:ns3="f1f31ffb-9912-4459-99c8-b26e82094b51" xmlns:ns4="ce621958-37b1-43fe-a1f1-1aad67996a88" targetNamespace="http://schemas.microsoft.com/office/2006/metadata/properties" ma:root="true" ma:fieldsID="a4a7479691298f78fa730ec7f8fa308b" ns3:_="" ns4:_="">
    <xsd:import namespace="f1f31ffb-9912-4459-99c8-b26e82094b51"/>
    <xsd:import namespace="ce621958-37b1-43fe-a1f1-1aad67996a8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f31ffb-9912-4459-99c8-b26e82094b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621958-37b1-43fe-a1f1-1aad67996a88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93FE9-1FFD-4A48-8257-382777B407F9}">
  <ds:schemaRefs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terms/"/>
    <ds:schemaRef ds:uri="http://purl.org/dc/elements/1.1/"/>
    <ds:schemaRef ds:uri="ce621958-37b1-43fe-a1f1-1aad67996a88"/>
    <ds:schemaRef ds:uri="f1f31ffb-9912-4459-99c8-b26e82094b51"/>
  </ds:schemaRefs>
</ds:datastoreItem>
</file>

<file path=customXml/itemProps2.xml><?xml version="1.0" encoding="utf-8"?>
<ds:datastoreItem xmlns:ds="http://schemas.openxmlformats.org/officeDocument/2006/customXml" ds:itemID="{B9CBA16D-8E8A-4356-90A0-4D1A0D312F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f31ffb-9912-4459-99c8-b26e82094b51"/>
    <ds:schemaRef ds:uri="ce621958-37b1-43fe-a1f1-1aad67996a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A8A71D3-B04A-48B1-91A4-C2A3D286C0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1530</TotalTime>
  <Words>1633</Words>
  <Application>Microsoft Office PowerPoint</Application>
  <PresentationFormat>Panorámica</PresentationFormat>
  <Paragraphs>318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Cambria</vt:lpstr>
      <vt:lpstr>Gill Sans MT</vt:lpstr>
      <vt:lpstr>Symbol</vt:lpstr>
      <vt:lpstr>Wingdings 2</vt:lpstr>
      <vt:lpstr>Dividendo</vt:lpstr>
      <vt:lpstr>MANUAL CONVERSIÓN DE UNIDADES RESTFULL EN java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Aplicación web con MVC implementado en JAVA Caso Practico Saltos “MONSTER”</dc:title>
  <dc:creator>Michael Villarruel</dc:creator>
  <cp:lastModifiedBy>CRISTIAN ISAAK ROBALINO CURAY</cp:lastModifiedBy>
  <cp:revision>64</cp:revision>
  <dcterms:created xsi:type="dcterms:W3CDTF">2020-08-13T07:15:02Z</dcterms:created>
  <dcterms:modified xsi:type="dcterms:W3CDTF">2026-05-13T02:53:08Z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0x010100EDB39E34F5A9B445B025C05B2A05D030</vt:lpwstr>
  </property>
</Properties>
</file>